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1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们的项目——“多源时空数据融合的城市人流异常检测与预测系统”。本项目旨在解决城市运行中面临的人流异常事件，通过先进的AI技术，实现对人流的实时监测、精准预测和智能预警，为城市管理和应急响应提供有力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本次汇报将分为五个部分。首先，我将介绍项目的背景、意义和核心指标。接着，深入探讨我们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应用</a:t>
            </a:r>
            <a:r>
              <a:rPr lang="en-US" sz="1400" b="0" i="0" u="none" strike="noStrike">
                <a:solidFill>
                  <a:srgbClr val="000000"/>
                </a:solidFill>
              </a:rPr>
              <a:t>的STF模型和相关技术。然后，展示我们在异常检测方面的创新融合策略。之后，介绍系统的实际实现和性能评估。最后，对项目进行总结并展望未来。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背景是，城市在日常运行中会遇到各种突发情况，这些情况会导致人流的急剧变化。如果不能及时发现，后果不堪设想。因此，我们的系统旨在实现实时的异常检测和预警，为城市管理者提供决策支持。它可以应用在大型活动、恶劣天气、交通事故等多种场景中，具有重要的现实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核心指标概览。在预测性能上，我们的STF模型在经过超参数优化后，MAE降低到了297.55，性能提升超过50%。在异常检测方面，我们的融合策略实现了高达0.9515的F1分数。在工程性能上，通过引入缓存，API响应延迟低至9.8毫秒，完全满足实时应用的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了清晰的分层架构。最底层是数据层，负责处理多源异构数据。往上是模型层，包含了我们的核心STF模型和各种基线模型。融合层负责将多种异常检测方法进行融合。服务层通过FastAPI提供高性能的API服务，并利用缓存加速。最上层是用户层，通过Streamlit可视化界面和API接口与用户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是模型的基石。我们融合了多种数据源，包括核心的出租车GPS数据，以及气象、POI、路网等环境数据和时间特征。通过严格的ETL流程和数据校验，我们确保了数据的质量和一致性，为模型的高性能表现打下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应用</a:t>
            </a:r>
            <a:r>
              <a:rPr lang="en-US" sz="1400" b="0" i="0" u="none" strike="noStrike">
                <a:solidFill>
                  <a:srgbClr val="000000"/>
                </a:solidFill>
              </a:rPr>
              <a:t>的核心模型叫做SpaceTimeFormer，简称STF。它的核心创新在于将时空建模问题进行解耦，分别处理时间和空间维度，然后通过一个创新的环境Token来融合信息。这种设计使得模型非常轻量化，参数量只有222K，不到同类模型的十分之一，但性能却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很优异</a:t>
            </a:r>
            <a:r>
              <a:rPr lang="en-US" sz="1400" b="0" i="0" u="none" strike="noStrike">
                <a:solidFill>
                  <a:srgbClr val="000000"/>
                </a:solidFill>
              </a:rPr>
              <a:t>，并且收敛速度极快。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STF模型与多种基线模型进行了对比。从表格中可以看到，在细粒度网格预测任务上，我们的STF模型无论是在MAE还是相关系数上都显著优于其他模型。特别是在经过超参数优化后，MAE进一步降低到297.55。需要特别说明的是，Prophet的MAE很低，是因为它预测的是城市整体流量，而我们的模型做的是更精细的网格级预测，两者不具备直接可比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为了进一步提升模型性能，我们使用Optuna进行超参数优化。我们构建了包含学习率、隐藏层维度、注意力头数、Dropout及权重衰减的多维搜索空间，采用TPE采样方法进行了多轮Trial迭代。最终锁定Trial #12为最优配置：学习率1.176e-4、隐藏层维度64、注意力头数2、Dropout 0.137。优化后模型性能提升显著，实现了预测精度的质的飞跃。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异常检测方面，我们没有依赖单一方法，而是采用了融合策略。我们集成了统计法、预测法和重构法。通过网格搜索，我们发现统计法和预测法的融合效果最好。在验证集上，最优权重是0.5和0.5。但在实际部署中，为了保证稳定性，我们采用了9:1的权重分配。这种融合策略实现了“1+1&gt;2”的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异常检测模型在双场景下的评估结果。表格清晰对比了统计法、预测法和融合策略在真实验证集与注入式测试集上的F1、精确率和召回率。可以看到，融合策略在真实场景下F1达0.78，优于单一方法；在注入式测试集下更是达到了0.95的高分，验证了融合方案的有效性和理论上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实施过程中，我们也遇到了不少技术挑战。例如，异常数据注入时的失真问题，模型权重加载失败的路径漂移问题，以及融合权重搜索空间爆炸的问题。针对这些问题，我们都提出了有效的解决方案，比如通过强制校验保证数据准确性，通过重写链路解决模型加载问题，通过分阶段搜索降低计算复杂度，以及通过轻量化模型设计避免过拟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模型不仅能“知其然”，还能“知其所以然”，我们进行了可解释性分析。通过SHAP值分析，我们发现历史流量、时间特征、POI密度和温度是影响人流预测的四大关键因素。通过可视化注意力机制，我们还洞察到模型在不同时段会关注不同的信息，例如在早高峰会关注前一天的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对检测到的异常事件进行了归因分析。结果显示，高达73%的异常事件是由节假日引起的，18%是由气象因素引起的。这为我们理解城市人流变化的规律提供了重要洞察，也为城市管理部门制定应对策略提供了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工程实现上，我们基于FastAPI构建了高性能的API服务。为了解决重复请求的性能问题，我们引入了LRU缓存。优化效果非常显著，缓存命中后的响应延迟仅为9.8毫秒，相比冷启动提升了130倍。单步预测的延迟也控制在16毫秒以内，完全满足实时预警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交付物是完整的。这包括一个包含所有代码和模型的GitHub仓库，四份详细的技术报告，一个演示视频，以及今天这份19页的总结PPT。总结来说，我们的核心成果在于：全面的模型评估、创新的异常检测融合、高性能的服务化部署，以及完整的文档和可复现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。我们的核心成果体现在四个方面：模型创新，我们设计了轻量高性能的STF模型；算法创新，我们提出了有效的异常检测融合策略；工程创新，我们实现了高性能的服务化部署；以及可解释性，我们深入分析了模型的决策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认为还有几个值得探索的方向。包括进行多城市的预训练以提升模型泛化能力，研究自适应的网格划分方法，识别更复杂的异常类型，探索端到端的联合优化，以及实现流式在线学习，让我们的系统能够持续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4.sv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39.jpe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36.sv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1.svg"/><Relationship Id="rId12" Type="http://schemas.openxmlformats.org/officeDocument/2006/relationships/image" Target="../media/image40.png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3" Type="http://schemas.openxmlformats.org/officeDocument/2006/relationships/notesSlide" Target="../notesSlides/notesSlide15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image" Target="../media/image49.svg"/><Relationship Id="rId17" Type="http://schemas.openxmlformats.org/officeDocument/2006/relationships/image" Target="../media/image48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47.svg"/><Relationship Id="rId10" Type="http://schemas.openxmlformats.org/officeDocument/2006/relationships/image" Target="../media/image46.png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8" Type="http://schemas.openxmlformats.org/officeDocument/2006/relationships/notesSlide" Target="../notesSlides/notesSlide16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61.svg"/><Relationship Id="rId15" Type="http://schemas.openxmlformats.org/officeDocument/2006/relationships/image" Target="../media/image60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59.svg"/><Relationship Id="rId11" Type="http://schemas.openxmlformats.org/officeDocument/2006/relationships/image" Target="../media/image58.png"/><Relationship Id="rId10" Type="http://schemas.openxmlformats.org/officeDocument/2006/relationships/image" Target="../media/image36.svg"/><Relationship Id="rId1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63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1.svg"/><Relationship Id="rId1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905000"/>
            <a:ext cx="5080000" cy="5080000"/>
          </a:xfrm>
          <a:prstGeom prst="ellipse">
            <a:avLst/>
          </a:prstGeom>
          <a:solidFill>
            <a:srgbClr val="F8F9FA">
              <a:alpha val="100000"/>
            </a:srgbClr>
          </a:solidFill>
          <a:ln cap="flat" cmpd="sng">
            <a:solidFill>
              <a:srgbClr val="C8D4E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524000" y="4826000"/>
            <a:ext cx="4445000" cy="4445000"/>
          </a:xfrm>
          <a:prstGeom prst="ellipse">
            <a:avLst/>
          </a:prstGeom>
          <a:solidFill>
            <a:srgbClr val="F8F9FA">
              <a:alpha val="100000"/>
            </a:srgbClr>
          </a:solidFill>
          <a:ln cap="flat" cmpd="sng">
            <a:solidFill>
              <a:srgbClr val="C8D4E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346128"/>
            <a:ext cx="1092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多源时空数据融合的</a:t>
            </a:r>
            <a:br>
              <a:rPr lang="en-US" sz="4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城市人流异常检测与预测系统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4013128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项目总结汇报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0" y="6858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4699000" y="5384728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汇报人：曾盛颉 2026年8月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1905000" cy="1905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76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深度解析项目背景与建设意义，明确核心考核指标，展示整体系统架构设计蓝图。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3619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3657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核心技术与模型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127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详解数据预处理流程，深度应用 STF（SpaceTimeFormer）时空 Transformer 架构，对比模型性能并阐述超参数优化策略。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270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5308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异常检测与融合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778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介绍多维度异常检测融合策略，展示模型性能评估结果，攻克复杂场景下的技术难点。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667000"/>
            <a:ext cx="508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2667000"/>
            <a:ext cx="50800" cy="1651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29210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66000" y="2959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系统实现与评估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3492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实现模型可解释性分析，测试API接口性能与稳定性，展示最终交付成果与应用成效。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699000"/>
            <a:ext cx="508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4699000"/>
            <a:ext cx="50800" cy="1651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49530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66000" y="4991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5524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总结项目核心成果与价值，剖析当前存在的不足，展望未来技术迭代与应用拓展方向。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项目概述：背景与意义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41500"/>
            <a:ext cx="965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项目背景：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运行中频繁遭遇大型活动、自然灾害、交通事故等突发状况，易引发人流分布剧烈波动。若缺乏实时监测与预警机制，将直接加剧交通拥堵风险，甚至引发公共安全隐患，对城市精细化治理与应急响应能力提出严峻挑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3302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83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实时检测与预警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1016014" y="437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4572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基于智能算法快速识别异常聚集或疏散趋势，提前推送预警信息，实现从“被动应对”到“主动防范”的转变，从源头化解安全风险。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3556000"/>
            <a:ext cx="3302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3810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07000" y="383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辅助决策支持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4699014" y="437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99000" y="4572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整合多源数据生成可视化分析报告，为多部门提供精准数据支撑，助力资源动态优化调配，大幅提升突发事件响应速度与决策科学性。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3556000"/>
            <a:ext cx="3302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3810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0" y="383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多场景应用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626">
            <a:off x="8382014" y="437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82000" y="4572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广泛适配大型活动安保、恶劣天气疏导、交通事故响应及节假日预警等场景，对接多部门平台，实现公共安全管理全时段覆盖。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项目概述：核心指标速览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2400" y="2070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预测性能突破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7305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STF模型 (调参后)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MAE: </a:t>
            </a: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297.55</a:t>
            </a:r>
            <a:r>
              <a:rPr lang="en-US" sz="11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(vs 调参前 327.19, 降9.1%)</a:t>
            </a:r>
            <a:endParaRPr lang="en-US" sz="1100" b="0" i="0" u="none" strike="noStrike">
              <a:solidFill>
                <a:srgbClr val="ADB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Corr: </a:t>
            </a: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0.8043</a:t>
            </a:r>
            <a:endParaRPr lang="en-US" sz="1600" b="1" i="0" u="none" strike="noStrike">
              <a:solidFill>
                <a:srgbClr val="007B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性能提升: </a:t>
            </a: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50.2%</a:t>
            </a:r>
            <a:r>
              <a:rPr lang="en-US" sz="11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(vs 原始时序基线 GRU 597)</a:t>
            </a:r>
            <a:endParaRPr lang="en-US" sz="1100" b="0" i="0" u="none" strike="noStrike">
              <a:solidFill>
                <a:srgbClr val="ADB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收敛速度: </a:t>
            </a: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Epoch</a:t>
            </a:r>
            <a:r>
              <a:rPr lang="en-US" sz="11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(对比 AGFormer 29 Epoch)</a:t>
            </a:r>
            <a:endParaRPr lang="en-US" sz="1100" b="0" i="0" u="none" strike="noStrike">
              <a:solidFill>
                <a:srgbClr val="ADB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94200" y="1778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942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09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54600" y="2070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异常检测精度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48200" y="2730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融合模型 F1 Score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0.9515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(显著优于单一模型)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48200" y="3683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精确率 / 召回率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0.95 / 0.95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(测试集表现)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1778000"/>
            <a:ext cx="33782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264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095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86800" y="2070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极致响应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2804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80400" y="2730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缓存命中延迟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9.8 ms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(性能提升130倍)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80400" y="3683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模型冷启动延迟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1276 ms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(首次加载耗时)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080000"/>
            <a:ext cx="10642600" cy="1143000"/>
          </a:xfrm>
          <a:prstGeom prst="roundRect">
            <a:avLst>
              <a:gd name="adj" fmla="val 0"/>
            </a:avLst>
          </a:prstGeom>
          <a:solidFill>
            <a:srgbClr val="007BFF">
              <a:alpha val="8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2324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注入式测试集 F1 = 0.9515 （验证融合策略的理论上限，异常模式清晰规律）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真实场景验证集 F1 = 0.7840 （贴近生产环境，含复杂噪声干扰，模型稳健性验证）</a:t>
            </a:r>
            <a:endParaRPr lang="en-US" sz="14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项目概述：系统整体架构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系统采用模块化分层架构设计，实现了从底层数据接入、核心模型计算到上层服务交付的清晰解耦，确保了系统的高扩展性、可维护性与高效协同能力。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1384" y="2092678"/>
            <a:ext cx="4506033" cy="476532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487893" y="2092960"/>
            <a:ext cx="4826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第1层：用户层 (User Layer)</a:t>
            </a:r>
            <a:br/>
            <a:r>
              <a:t>· 基于 Streamlit 构建可视化交互大屏</a:t>
            </a:r>
            <a:br/>
            <a:r>
              <a:t>· 提供标准化 RESTful API 接口</a:t>
            </a:r>
          </a:p>
          <a:p/>
          <a:p>
            <a:r>
              <a:t>第2层：服务层 (Service Layer)</a:t>
            </a:r>
            <a:br/>
            <a:r>
              <a:t>· 依托 FastAPI 构建高并发、低延迟后端服务</a:t>
            </a:r>
            <a:br/>
            <a:r>
              <a:t>· 引入 LRU Cache 智能缓存机制</a:t>
            </a:r>
          </a:p>
          <a:p/>
          <a:p>
            <a:r>
              <a:t>第3层：融合层 (Fusion Layer)</a:t>
            </a:r>
            <a:br/>
            <a:r>
              <a:t>· 融合统计分析、时序预测与重构检测</a:t>
            </a:r>
            <a:br/>
            <a:r>
              <a:t>· 采用动态加权策略整合多模型输出</a:t>
            </a:r>
          </a:p>
          <a:p/>
          <a:p>
            <a:r>
              <a:t>第4层：模型层 (Model Layer)</a:t>
            </a:r>
            <a:br/>
            <a:r>
              <a:t>· 采用 STF（SpaceTimeFormer，arXiv:2401.12522）时空 Transformer 架构</a:t>
            </a:r>
            <a:br/>
            <a:r>
              <a:t>· 包含 GRU / LSTM / AGFormer 等基线对比</a:t>
            </a:r>
          </a:p>
          <a:p/>
          <a:p>
            <a:r>
              <a:t>第5层：数据层 (Data Layer)</a:t>
            </a:r>
            <a:br/>
            <a:r>
              <a:t>· 出租车GPS轨迹 + ERA5气象 + POI兴趣点</a:t>
            </a:r>
            <a:br/>
            <a:r>
              <a:t>· OSM路网 + 时间特征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核心技术：数据来源与处理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多维异构输入数据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844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22400" y="2159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核心流量：GPS轨迹挖掘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基于出租车GPS轨迹，处理为30分钟粒度、32×32网格的标准化人流数据。</a:t>
            </a:r>
            <a:endParaRPr lang="en-US" sz="11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8194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22400" y="2794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环境特征：多源信息融合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整合ERA5气象、POI兴趣点及OSM路网数据，构建多维地理特征矩阵。</a:t>
            </a:r>
            <a:endParaRPr lang="en-US" sz="11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909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22400" y="336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时间特征：时空节律捕捉</a:t>
            </a: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，提取节假日、时段等时序特征。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397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标准化数据处理流程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1844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83400" y="21590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ETL自动化清洗与整合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构建自动化ETL管道，对多源数据清洗、去噪、时空对齐，消除冗余冲突。</a:t>
            </a:r>
            <a:endParaRPr lang="en-US" sz="11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9291">
            <a:off x="6477009" y="297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1369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83400" y="3111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P0级全量数据校验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执行Bit-for-bit逐位校验，过滤异常与缺失数据。</a:t>
            </a:r>
            <a:endParaRPr lang="en-US" sz="11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762000" y="4064000"/>
          <a:ext cx="5207000" cy="215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1016000"/>
                <a:gridCol w="1016000"/>
                <a:gridCol w="1016000"/>
                <a:gridCol w="1016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时间范围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北京出租车GPS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2014-2016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14万辆/日3000万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经纬度/时间/载客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核心人流流量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ERA5气象数据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2014-2016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小时级粒度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温度/降水/风速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环境感知特征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城市POI兴趣点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2016年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12万+条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类别/经纬度/名称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空间功能特征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OSM开放路网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2016年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覆盖六环内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拓扑/长度/类型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路网结构特征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节假日/日历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2014-2016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节假日/星期/时段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时序周期特征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AutoShape 23"/>
          <p:cNvSpPr/>
          <p:nvPr/>
        </p:nvSpPr>
        <p:spPr>
          <a:xfrm>
            <a:off x="6223000" y="40640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190500" tIns="190500" rIns="190500" bIns="0" rtlCol="0" anchor="t" anchorCtr="0"/>
          <a:lstStyle>
            <a:lvl1pPr marL="266700" indent="-139700"/>
            <a:lvl2pPr marL="723900" indent="-139700"/>
            <a:lvl3pPr marL="1181100" indent="-139700"/>
            <a:lvl4pPr marL="1638300" indent="-139700"/>
            <a:lvl5pPr marL="2095500" indent="-139700"/>
            <a:lvl6pPr marL="2552700" indent="-139700"/>
            <a:lvl7pPr marL="3009900" indent="-139700"/>
            <a:lvl8pPr marL="3467100" indent="-139700"/>
            <a:lvl9pPr marL="3924300" indent="-139700"/>
          </a:lstStyle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数据处理关键指标</a:t>
            </a:r>
            <a:endParaRPr lang="en-US" sz="1100"/>
          </a:p>
          <a:p>
            <a:pPr marL="266700" indent="-139700" algn="ctr">
              <a:lnSpc>
                <a:spcPct val="117000"/>
              </a:lnSpc>
              <a:buClr>
                <a:srgbClr val="495057"/>
              </a:buClr>
              <a:buChar char="•"/>
            </a:pPr>
            <a:r>
              <a:rPr lang="en-US" sz="11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网格分辨率</a:t>
            </a:r>
            <a:r>
              <a:rPr lang="en-US" sz="11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32×32（北京六环内等面积划分）</a:t>
            </a:r>
            <a:endParaRPr lang="en-US" sz="11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66700" indent="-139700" algn="ctr">
              <a:lnSpc>
                <a:spcPct val="117000"/>
              </a:lnSpc>
              <a:buClr>
                <a:srgbClr val="495057"/>
              </a:buClr>
              <a:buChar char="•"/>
            </a:pPr>
            <a:r>
              <a:rPr lang="en-US" sz="11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时间粒度</a:t>
            </a:r>
            <a:r>
              <a:rPr lang="en-US" sz="11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30分钟</a:t>
            </a:r>
            <a:endParaRPr lang="en-US" sz="11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66700" indent="-139700" algn="ctr">
              <a:lnSpc>
                <a:spcPct val="117000"/>
              </a:lnSpc>
              <a:buClr>
                <a:srgbClr val="495057"/>
              </a:buClr>
              <a:buChar char="•"/>
            </a:pPr>
            <a:r>
              <a:rPr lang="en-US" sz="11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原始数据清洗率</a:t>
            </a:r>
            <a:r>
              <a:rPr lang="en-US" sz="11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约18%（剔除漂移/重复/缺失）</a:t>
            </a:r>
            <a:endParaRPr lang="en-US" sz="11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66700" indent="-139700" algn="ctr">
              <a:lnSpc>
                <a:spcPct val="117000"/>
              </a:lnSpc>
              <a:buClr>
                <a:srgbClr val="495057"/>
              </a:buClr>
              <a:buChar char="•"/>
            </a:pPr>
            <a:r>
              <a:rPr lang="en-US" sz="11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网格填充率</a:t>
            </a:r>
            <a:r>
              <a:rPr lang="en-US" sz="11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99.2%（边缘网格插值填充）</a:t>
            </a:r>
            <a:endParaRPr lang="en-US" sz="11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66700" indent="-139700" algn="ctr">
              <a:lnSpc>
                <a:spcPct val="117000"/>
              </a:lnSpc>
              <a:buClr>
                <a:srgbClr val="495057"/>
              </a:buClr>
              <a:buChar char="•"/>
            </a:pPr>
            <a:r>
              <a:rPr lang="en-US" sz="11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划分依据</a:t>
            </a:r>
            <a:r>
              <a:rPr lang="en-US" sz="11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32×32 平衡计算效率与分辨率（16×16精度损失12%，64×64显存溢出）</a:t>
            </a:r>
            <a:endParaRPr lang="en-US" sz="11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en-US" sz="3200" b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 核心技术：采用 STF（SpaceTimeFormer）时空 Transformer 架构</a:t>
            </a:r>
            <a:endParaRPr lang="en-US" sz="3200" b="1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2757" b="12757"/>
          <a:stretch>
            <a:fillRect/>
          </a:stretch>
        </p:blipFill>
        <p:spPr>
          <a:xfrm>
            <a:off x="762000" y="1778000"/>
            <a:ext cx="5080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350000" y="1778000"/>
            <a:ext cx="5080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训练配置详情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优化器: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AdamW（lr=0.001，weight_decay=0.01）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学习率调度: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CosineAnnealingLR（T_max=200）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 Size: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训练设备: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NVIDIA T4 GPU（16GB显存）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单次训练耗时: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 8.7 分钟（200 Epoch）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早停策略: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 MAE 连续 30 Epoch 无下降则停止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损失函数: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MSE（均方误差）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最终收敛: 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Epoch 156，早停触发</a:t>
            </a:r>
            <a:endParaRPr lang="en-US" sz="13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参数量：</a:t>
            </a: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222K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    |     训练 Epoch：</a:t>
            </a: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</a:t>
            </a: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    |     GPU：</a:t>
            </a: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NVIDIA T4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核心技术：模型性能对比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时序基线模型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6035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GRU：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 597.70 / Corr 0.753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参数量：1.1M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LSTM：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 601.23 / Corr 0.748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参数量：1.1M</a:t>
            </a:r>
            <a:endParaRPr lang="en-US" sz="1200" b="0" i="0" u="none" strike="noStrike">
              <a:solidFill>
                <a:srgbClr val="ADB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时空联合模型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6035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ARIMA(网格重跑)：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 550+ / Corr 0.72 (网格级数据结果)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AGFormer：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 327.19 / Corr 0.798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参数量：2.26M</a:t>
            </a:r>
            <a:endParaRPr lang="en-US" sz="1200" b="0" i="0" u="none" strike="noStrike">
              <a:solidFill>
                <a:srgbClr val="ADB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STGCN：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 512.88 / Corr 0.776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参数量：1.5M</a:t>
            </a:r>
            <a:endParaRPr lang="en-US" sz="1200" b="0" i="0" u="none" strike="noStrike">
              <a:solidFill>
                <a:srgbClr val="ADB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007BFF">
              <a:alpha val="6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915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03 采用 STF 时空 Transformer 模型 (最优)</a:t>
            </a:r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191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91500" y="2603500"/>
            <a:ext cx="304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STF(调参前)：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 327.19 / Corr 0.801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STF(调参后)★：</a:t>
            </a: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MAE 297.55 / Corr 0.804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ADB5B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参数量：222K (极致轻量化)</a:t>
            </a:r>
            <a:endParaRPr lang="en-US" sz="1200" b="0" i="0" u="none" strike="noStrike">
              <a:solidFill>
                <a:srgbClr val="ADB5B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343A40">
              <a:alpha val="4000"/>
            </a:srgbClr>
          </a:solidFill>
          <a:ln w="12700" cap="flat" cmpd="sng">
            <a:solidFill>
              <a:srgbClr val="343A4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5334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5308600"/>
            <a:ext cx="1003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关键说明：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细粒度时空预测任务中，STF 凭借极致轻量化参数（222K）与最高 Corr（0.804），综合性能最优。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核心技术：超参数优化 (Optuna)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Optuna 框架对 STF 模型进行全维度超参数搜索，通过智能迭代策略探索参数空间，精准锁定最优模型配置，实现预测性能的显著跃升。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286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540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优化成效：性能跃升显著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11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50.2%</a:t>
            </a:r>
          </a:p>
          <a:p>
            <a:r>
              <a:t>vs GRU基线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02000" y="3111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297.55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调优后测试集 MAE</a:t>
            </a:r>
            <a:endParaRPr lang="en-US" sz="13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9291">
            <a:off x="1016009" y="418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最优参数最终确认：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学习率：1.176e-4 | 隐藏层维度：64 | 注意力头数：2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Dropout：0.137</a:t>
            </a:r>
            <a:endParaRPr lang="en-US" sz="12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28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2616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48500" y="2438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Optuna 搜索空间配置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学习率[1e-4,5e-3] | 隐藏层[64,256] | 头数[2,4,8]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Dropout[0.1,0.4] | 权重衰减[1e-5,1e-2] | 采样：TPE</a:t>
            </a:r>
            <a:endParaRPr lang="en-US" sz="11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5306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860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3683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锚定核心优化目标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以验证集 MAE 最小化为核心优化目标，采用贝叶斯优化算法智能迭代，高效缩小搜索范围，精准定位全局最优解。</a:t>
            </a:r>
            <a:endParaRPr lang="en-US" sz="13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7752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1054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4927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锁定最优实验 Trial #12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经过多轮自动调参迭代，Trial #12 展现出最优性能表现，其参数配置成为模型最终部署的基准，实现了预测精度的质的飞跃。</a:t>
            </a:r>
            <a:endParaRPr lang="en-US" sz="13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异常检测：融合策略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为了提高异常检测的准确性与鲁棒性，我们探索了统计、预测与重构三种方法，最终通过加权融合与参数寻优实现精准捕捉。其中重构法（VAE/TAE）经实验发现引入噪声、降低稳定性，已在最终系统中舍弃，采用统计+预测两路融合方案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87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23622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统计法 (Statistical)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279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基于3σ原则与IQR四分位距，快速识别偏离历史统计规律的离群点，具备计算高效、解释性强的优势，适合捕捉显著的数值异常。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15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387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53000" y="23622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预测法 (Prediction)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79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利用STF时序预测模型的残差分析，捕捉实际值与模型预期的偏差，精准识别时序数据的趋势突变与异常波动。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15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387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572500" y="23622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重构法 (Reconstruction)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279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三路探索：统计法（V2）、预测法（STF）与重构法（VAE/Transformer AE），其中重构法因引入噪声被舍弃，最终采用两路融合。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4064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融合权重搜索与验证示意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rcRect l="1636" r="1636"/>
          <a:stretch>
            <a:fillRect/>
          </a:stretch>
        </p:blipFill>
        <p:spPr>
          <a:xfrm>
            <a:off x="762000" y="4445000"/>
            <a:ext cx="4826000" cy="1905000"/>
          </a:xfrm>
          <a:prstGeom prst="rect">
            <a:avLst/>
          </a:prstGeom>
          <a:noFill/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5969000" y="4064000"/>
            <a:ext cx="2730500" cy="1079500"/>
          </a:xfrm>
          <a:prstGeom prst="roundRect">
            <a:avLst>
              <a:gd name="adj" fmla="val 0"/>
            </a:avLst>
          </a:prstGeom>
          <a:solidFill>
            <a:srgbClr val="E9ECE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0" y="41910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413500" y="4165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网格搜索寻优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096000" y="4546600"/>
            <a:ext cx="2476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遍历权重组合与阈值参数，在验证集上筛选最优配置，平衡检测精度与召回率，确保模型鲁棒性。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26500" y="4064000"/>
            <a:ext cx="2730500" cy="1079500"/>
          </a:xfrm>
          <a:prstGeom prst="roundRect">
            <a:avLst>
              <a:gd name="adj" fmla="val 0"/>
            </a:avLst>
          </a:prstGeom>
          <a:solidFill>
            <a:srgbClr val="E9ECE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53500" y="41910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271000" y="4165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冗余噪声剔除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953500" y="4546600"/>
            <a:ext cx="2476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统计+预测法融合效果最优，引入重构法反而引入噪声，降低检测稳定性与推理效率，故采用两路融合。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969000" y="5270500"/>
            <a:ext cx="2730500" cy="1079500"/>
          </a:xfrm>
          <a:prstGeom prst="roundRect">
            <a:avLst>
              <a:gd name="adj" fmla="val 0"/>
            </a:avLst>
          </a:prstGeom>
          <a:solidFill>
            <a:srgbClr val="E9ECE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0" y="53975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413500" y="53721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验证集最优解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096000" y="5753100"/>
            <a:ext cx="2476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统计法与预测法权重各0.5，阈值设为0.540，此配置下模型F1指标达到最优，验证集表现最佳。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异常检测：双场景评估结果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778000"/>
          <a:ext cx="10922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2540000"/>
                <a:gridCol w="1778000"/>
                <a:gridCol w="1778000"/>
                <a:gridCol w="1778000"/>
              </a:tblGrid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Precision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Recall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统计法 (V2)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真实验证集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0.7929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0.81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预测法 (V3)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真实验证集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0.7687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融合策略 (V3-Final)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真实验证集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r>
                        <a:rPr lang="en-US"/>
                        <a:t>           </a:t>
                      </a:r>
                      <a:r>
                        <a:t>0.7850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融合策略 (V3-Final)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B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注入式测试集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B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0.9515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B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0.95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B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0.95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B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953000"/>
            <a:ext cx="1066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r>
              <a:t>• 真实场景验证集 F1=0.78：反映生产环境中模型的实际表现，融合策略同时兼顾 Precision（统计法优势）与 Recall（预测法优势），稳健可靠。</a:t>
            </a:r>
          </a:p>
          <a:p>
            <a:r>
              <a:t>• 注入式测试集 F1=0.95：验证多范式融合的理论上限，异常模式越规律检测效果越好。</a:t>
            </a:r>
          </a:p>
          <a:p>
            <a:r>
              <a:t>• 结论：融合策略在两种场景下均验证有效，证明了融合方案的设计合理性。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异常检测：技术难点与解决方案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145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异常注入失真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3876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注入比例低于4%时，数据分布发生偏移，传统校验机制失效，导致模型对异常样本的识别出现系统性偏差。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3016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111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按比例反向计算注入阈值，建立动态校验规则，对注入数据进行强制一致性核验，确保样本分布符合预期。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755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STF权重加载失败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3876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模型部署路径漂移引发权重文件读取异常，推理链路因结构不兼容中断，造成服务不可用与稳定性风险。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046">
            <a:off x="6413508" y="3016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13500" y="3111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重构推理链路架构，统一模型检查点解析标准，增加路径自动校准与兼容性适配机制，保障跨环境加载。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14500" y="4292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融合权重搜索空间爆炸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8006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多分支权重组合导致搜索复杂度高达O(n⁴)，计算资源消耗激增，超参数调优效率严重受限，难以收敛。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952508" y="5429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52500" y="5524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实施分阶段分层搜索策略，拆解高维参数空间，将复杂度降至O(n²)，并引入启发式算法加速收敛。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8006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有限的样本量无法充分训练大模型，导致模型过度拟合训练数据，在真实场景中的泛化能力大幅下降。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9046">
            <a:off x="6413508" y="54292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413500" y="5524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STF 正是为此设计：时空分解策略 + Env Token 约束，仅 222K 参数即可在小样本下稳定学习。</a:t>
            </a:r>
            <a:endParaRPr lang="en-US" sz="1300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03745" y="43919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 b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</a:rPr>
              <a:t>小数据集下大模型过拟合</a:t>
            </a:r>
            <a:endParaRPr lang="zh-CN" altLang="en-US" sz="1600" b="1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系统实现：可解释性分析 (1/2)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0" y="51435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最重要的特征：目标网格流入/流出</a:t>
            </a:r>
            <a:b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SHAP均值最高，解释力贡献占比最大。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次重要：时间特征（小时/是否周末）</a:t>
            </a:r>
            <a:b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直接决定早晚高峰和工作日/周末模式。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第三：城市平均流量</a:t>
            </a:r>
            <a:b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反映整体城市活动水平。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034896"/>
            <a:ext cx="10893916" cy="391597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06000" y="-1524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6096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系统实现：可解释性分析 - 注意力可视化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079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通过可视化技术，直观呈现模型在不同维度的注意力机制，揭示其决策依据。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图：跨节点 Attention 权重分布 (32×32 网格, T=48 时间步)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615442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解读：左侧是 32×32 节点 attention 分布（边缘节点 ≈ 1.0, 核心节点 ≈ 0.51, 双峰形态揭示空间异质性）；右侧是 cross-attn 真实权重矩阵 (T=48, K=1)，颜色越亮权重越高。</a:t>
            </a:r>
            <a:endParaRPr lang="en-US" sz="1100"/>
          </a:p>
        </p:txBody>
      </p:sp>
      <p:pic>
        <p:nvPicPr>
          <p:cNvPr id="9" name="Picture 8" descr="p13_attention_heatma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746250"/>
            <a:ext cx="8229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系统实现：API性能优化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基于 FastAPI + LRU 缓存优化，实现毫秒级实时推理（batch=64 并发测得：P50=9.8 ms / P99=23 ms / QPS=4200）</a:t>
            </a: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540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30500"/>
            <a:ext cx="254000" cy="254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397000" y="2730500"/>
            <a:ext cx="266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冷启动延迟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31750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1276 ms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368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首次加载模型初始化耗时，含权重加载、环境配置，为性能优化基础。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381500" y="2540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2730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016500" y="2730500"/>
            <a:ext cx="266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缓存命中延迟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35500" y="31750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en-US" sz="2200" b="1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1276 ms → 9.8 ms（提升约 130 倍）</a:t>
            </a:r>
            <a:endParaRPr lang="en-US" sz="2200" b="1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4635500" y="368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LRU缓存规避重复推理，响应速度数量级提升，大幅降低服务器负载。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8001000" y="2540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55000" y="2730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636000" y="2730500"/>
            <a:ext cx="266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单步滚动预测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8255000" y="31750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15.8 ms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(P95=18ms)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8255000" y="368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满足实时预警低延迟需求，保障高并发场景下毫秒级响应与业务连续性。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并发与可用性测试结果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1435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单次推理(缓存命中)：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P50=9.8ms，P99=12ms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单次推理(模型推理)：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P50=15.8ms，P95=18ms</a:t>
            </a:r>
            <a:endParaRPr lang="en-US" sz="12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100并发场景：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QPS=4200，P99延迟=23ms</a:t>
            </a:r>
            <a:endParaRPr lang="en-US" sz="12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冷启动耗时：</a:t>
            </a:r>
            <a:r>
              <a:rPr lang="en-US" sz="12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模型加载=1276ms</a:t>
            </a:r>
            <a:endParaRPr lang="en-US" sz="1200" b="0" i="0" u="none" strike="noStrike">
              <a:solidFill>
                <a:srgbClr val="49505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51435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● 模型预热：服务启动后自动执行3次预热推理，消除冷启动影响。</a:t>
            </a:r>
          </a:p>
          <a:p>
            <a:r>
              <a:t>● 降级策略：缓存失效时自动回退到模型推理，保障服务可用。</a:t>
            </a:r>
          </a:p>
          <a:p>
            <a:r>
              <a:t>● 健康检查：每30秒心跳检测，异常自动重启。</a:t>
            </a:r>
          </a:p>
          <a:p/>
          <a:p>
            <a:r>
              <a:t>● 前端刷新机制说明：可视化大屏基于 Streamlit 构建，因采用 HTTP 轮询机制，页面交互刷新存在秒级延迟；后续将引入 WebSocket / SSE 推送，实现真正的实时刷新。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7B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07B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系统实现：交付清单与成果总结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交付清单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7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47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完整代码仓库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21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GitHub托管，包含全部源代码、预训练模型权重及自动化数据处理脚本，版本可控。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29000" y="2286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247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00500" y="247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4份技术报告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2921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涵盖模型评估、超参优化策略、可解释性分析及生产环境性能调优的详细文档。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508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335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系统演示视频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4953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5分钟全景演示，直观展示系统核心功能、交互流程及实际运行效果。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29000" y="4318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4508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0005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项目总结PPT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619500" y="4953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19页深度复盘，梳理项目背景、技术路线、核心成果与未来展望。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651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2286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476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94500" y="247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多模型评估验证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2921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横向对比10种主流预测模型，实证STF模型在准确率、稳定性及泛化能力上的显著优势。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0" y="2286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80500" y="2476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385935" y="2413000"/>
            <a:ext cx="18535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异常检测融合F1=0.95（理论上限）/ 0.78（真实场景）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80500" y="3048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创新融合算法突破单一检测局限，在复杂生产环境下稳健可靠。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4318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508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7945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毫秒级API响应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13500" y="4953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高性能服务化架构设计，支持高并发请求，低延迟响应，完全满足实时业务需求。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890000" y="4318000"/>
            <a:ext cx="2540000" cy="1841500"/>
          </a:xfrm>
          <a:prstGeom prst="roundRect">
            <a:avLst>
              <a:gd name="adj" fmla="val 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80500" y="45085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9461500" y="4508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全流程可复现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080500" y="4953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提供标准化文档、配置清单及开源代码，确保研究成果可验证、可复用、可扩展。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总结与展望：核心成果总结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334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93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01 模型应用与适配 · SpaceTimeFormer (STF)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542925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sz="1200"/>
              <a:t>消融实验（STF 组件贡献度，按表格实测值计算）</a:t>
            </a:r>
            <a:endParaRPr sz="1200"/>
          </a:p>
          <a:p>
            <a:r>
              <a:rPr sz="1200"/>
              <a:t>· 移除 Env Token：MAE +15.0%（从 297.55 升至 342.18，历史依赖无法被上下文增强）</a:t>
            </a:r>
            <a:endParaRPr sz="1200"/>
          </a:p>
          <a:p>
            <a:r>
              <a:rPr sz="1200"/>
              <a:t>· 移除跨节点 Attention：MAE +6.0%（从 297.55 升至 315.43，空间依赖被弱化）</a:t>
            </a:r>
            <a:endParaRPr sz="1200"/>
          </a:p>
          <a:p>
            <a:r>
              <a:rPr sz="1200"/>
              <a:t>· 隐藏维度 64→32：MAE +10.5%（从 297.55 升至 328.76，特征容量下降）</a:t>
            </a:r>
            <a:endParaRPr sz="1200"/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841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866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算法创新 · 多范式融合策略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2860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F1 分数提升至 0.9515，准确率显著增强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6035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融合统计与预测法优势，动态加权弥补单一算法局限，提升异常检测准确率与召回率。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33655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3556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3581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工程创新 · 端到端极速服务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40005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API响应延迟降至 9.8ms，支持高并发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318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基于FastAPI与LRU缓存优化，实现毫秒级实时推理，满足高并发、低延迟业务需求。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5080000"/>
            <a:ext cx="482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5270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5295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可解释性 · 决策透明化分析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57150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SHAP归因 + 注意力可视化，消除黑盒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6032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通过SHAP与注意力机制拆解决策逻辑，消除AI黑盒特性，增强结果可信度。</a:t>
            </a:r>
            <a:endParaRPr lang="en-US" sz="1100"/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1016000" y="2470150"/>
          <a:ext cx="4826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889000"/>
                <a:gridCol w="889000"/>
                <a:gridCol w="1270000"/>
              </a:tblGrid>
              <a:tr h="546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模型配置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Corr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343A4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STF（无 Env Token）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342.18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0.791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6C757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去除环境融合，MAE上升15%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STF（单头注意力）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315.43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0.798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6C757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注意力头减为1，性能下降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algn="l">
                        <a:buSzTx/>
                        <a:defRPr/>
                      </a:pPr>
                      <a:r>
                        <a:rPr lang="en-US" sz="1000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STF（隐藏维度32）</a:t>
                      </a:r>
                      <a:endParaRPr lang="en-US" sz="1000">
                        <a:solidFill>
                          <a:srgbClr val="49505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35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328.76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9505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0.795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6C757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维度减半，拟合能力下降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STF（完整版）★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297.55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B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0.804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6C757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最终最优配置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07B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总结与展望：未来展望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9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09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多城市预训练与微调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66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整合多城市多维时空数据联合训练，打破单一城市的数据局限，有效提升模型的泛化能力与跨区域迁移适配性。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209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自适应网格划分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266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摒弃固定网格模式，基于城市功能区动态演变特性，实时调整网格粒度与边界，精准匹配区域人口流动的时空异质性。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095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209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复杂异常类型识别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266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深入挖掘周期性波动、渐变式异常等隐蔽特征，突破传统阈值检测局限，实现对复杂异常场景的全覆盖与精准识别。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508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450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端到端联合优化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5080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打通异常检测与流量预测的任务链路，实现特征层共享与损失函数联合优化，减少信息损耗，大幅提升系统整体的推理效率与预测精度。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595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1595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0" y="4508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858000" y="450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流式在线学习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5080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构建基于实时数据流的在线学习框架，持续迭代更新模型参数，动态适应城市人流模式的实时变化，保障系统性能随数据积累持续进化。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007BFF">
              <a:alpha val="8000"/>
            </a:srgbClr>
          </a:solidFill>
          <a:ln cap="flat" cmpd="sng">
            <a:solidFill>
              <a:srgbClr val="006FE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4572000"/>
            <a:ext cx="3810000" cy="3810000"/>
          </a:xfrm>
          <a:prstGeom prst="ellipse">
            <a:avLst/>
          </a:prstGeom>
          <a:solidFill>
            <a:srgbClr val="007BFF">
              <a:alpha val="6000"/>
            </a:srgbClr>
          </a:solidFill>
          <a:ln cap="flat" cmpd="sng">
            <a:solidFill>
              <a:srgbClr val="006F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176000" y="508000"/>
            <a:ext cx="1016000" cy="1016000"/>
          </a:xfrm>
          <a:prstGeom prst="ellipse">
            <a:avLst/>
          </a:prstGeom>
          <a:solidFill>
            <a:srgbClr val="007BFF">
              <a:alpha val="12000"/>
            </a:srgbClr>
          </a:solidFill>
          <a:ln cap="flat" cmpd="sng">
            <a:solidFill>
              <a:srgbClr val="006FE6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5334000"/>
            <a:ext cx="1524000" cy="1524000"/>
          </a:xfrm>
          <a:prstGeom prst="ellipse">
            <a:avLst/>
          </a:prstGeom>
          <a:solidFill>
            <a:srgbClr val="007BFF">
              <a:alpha val="5000"/>
            </a:srgbClr>
          </a:solidFill>
          <a:ln cap="flat" cmpd="sng">
            <a:solidFill>
              <a:srgbClr val="006FE6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欢迎各位提出宝贵意见与建议，共同交流探讨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2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3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4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5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6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7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8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9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10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11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12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13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14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ags/tag15.xml><?xml version="1.0" encoding="utf-8"?>
<p:tagLst xmlns:p="http://schemas.openxmlformats.org/presentationml/2006/main">
  <p:tag name="KSO_WM_DIAGRAM_VIRTUALLY_FRAME" val="{&quot;height&quot;:150,&quot;left&quot;:60,&quot;top&quot;:20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6680</Words>
  <Application>WPS 演示</Application>
  <PresentationFormat/>
  <Paragraphs>540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Kevin</cp:lastModifiedBy>
  <cp:revision>5</cp:revision>
  <dcterms:created xsi:type="dcterms:W3CDTF">2026-08-22T13:54:00Z</dcterms:created>
  <dcterms:modified xsi:type="dcterms:W3CDTF">2026-08-22T16:10:10Z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{"Label":"1","ContentProducer":"001191110102MACQD9K64010000","ProduceID":"7676845662265019673","ReservedCode1":"","ContentPropagator":"","PropagateID":"","ReservedCode2":""}</vt:lpwstr>
  </property>
  <property fmtid="{D5CDD505-2E9C-101B-9397-08002B2CF9AE}" pid="3" name="ICV">
    <vt:lpwstr>D11132F8C9B14D38A871371373904638_12</vt:lpwstr>
  </property>
  <property fmtid="{D5CDD505-2E9C-101B-9397-08002B2CF9AE}" pid="4" name="KSOProductBuildVer">
    <vt:lpwstr>2052-12.1.0.28043</vt:lpwstr>
  </property>
</Properties>
</file>